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</a:t>
            </a:r>
          </a:p>
          <a:p>
            <a:r>
              <a:t>Ella es Doña Rosa. Vive en Colombia. [CONFIRMAR ciudad]</a:t>
            </a:r>
          </a:p>
          <a:p>
            <a:r>
              <a:t>Toda la vida ha hecho natillera con la familia.</a:t>
            </a:r>
          </a:p>
          <a:p>
            <a:r>
              <a:t>Pero hoy la familia está regada: Luz vive en Estados Unidos, Andrés en España. [CONFIRMAR parentesco]</a:t>
            </a:r>
          </a:p>
          <a:p>
            <a:r>
              <a:t>Cada uno gana en otra moneda.</a:t>
            </a:r>
          </a:p>
          <a:p>
            <a:r>
              <a:t>Y la natillera… sigue en un cuaderno.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0:30–1:10</a:t>
            </a:r>
          </a:p>
          <a:p>
            <a:r>
              <a:t>En 2025 entraron a Colombia más de 13 mil millones de dólares en remesas.</a:t>
            </a:r>
          </a:p>
          <a:p>
            <a:r>
              <a:t>Casi uno de cada cinco hogares recibe plata de afuera.</a:t>
            </a:r>
          </a:p>
          <a:p>
            <a:r>
              <a:t>¿Y saben cuál fue el mes récord? Diciembre. El mismo mes en que se reparte la natillera.</a:t>
            </a:r>
          </a:p>
          <a:p>
            <a:r>
              <a:t>Pero esa plata llega suelta, mes a mes, con giros, costos y vueltas.</a:t>
            </a:r>
          </a:p>
          <a:p>
            <a:r>
              <a:t>Nadie sabe quién puso, quién debe, cuánto hay.</a:t>
            </a:r>
          </a:p>
          <a:p>
            <a:r>
              <a:t>Y la que lleva las cuentas, casi siempre, es la abuela. [CONFIRMAR]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1:10–1:40</a:t>
            </a:r>
          </a:p>
          <a:p>
            <a:r>
              <a:t>Natillera sin Fronteras es la natillera de toda la vida, pero en el celular.</a:t>
            </a:r>
          </a:p>
          <a:p>
            <a:r>
              <a:t>Cada uno pone su cuota desde su billetera, en su moneda.</a:t>
            </a:r>
          </a:p>
          <a:p>
            <a:r>
              <a:t>Al fondo le llegan pesos.</a:t>
            </a:r>
          </a:p>
          <a:p>
            <a:r>
              <a:t>Y todos ven lo mismo: cuánto hay, quién está al día y quién pidió prestado.</a:t>
            </a:r>
          </a:p>
          <a:p>
            <a:r>
              <a:t>Se lo mostramos.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1:40–3:30 · Se proyecta el celular. Si algo falla, cortar al video de respaldo.</a:t>
            </a:r>
          </a:p>
          <a:p>
            <a:r>
              <a:t>01 Bienvenida: tocar A+ — "Este botón agranda la letra, para Doña Rosa."</a:t>
            </a:r>
          </a:p>
          <a:p>
            <a:r>
              <a:t>03 Entrar como Andrés — "Entra Andrés, desde España."</a:t>
            </a:r>
          </a:p>
          <a:p>
            <a:r>
              <a:t>10 — "Aquí está todo: el fondo, lo que lleva cada uno."</a:t>
            </a:r>
          </a:p>
          <a:p>
            <a:r>
              <a:t>11 — "Andrés pone en euros. A la natillera le llegan pesos. Antes de tocar nada ya sabe cuánto sale, cuánto llega y cuánto cuesta."</a:t>
            </a:r>
          </a:p>
          <a:p>
            <a:r>
              <a:t>28 — "Le contamos qué va a pasar, en tres pasos."</a:t>
            </a:r>
          </a:p>
          <a:p>
            <a:r>
              <a:t>Billetera — "La app nunca toca la plata. Andrés da el permiso en su propia billetera. Por debajo va Interledger, con Open Payments: la tubería." (única mención)</a:t>
            </a:r>
          </a:p>
          <a:p>
            <a:r>
              <a:t>34 — "Cuota puesta. Desde España, en menos de un minuto." [CONFIRMAR tiempo]</a:t>
            </a:r>
          </a:p>
          <a:p>
            <a:r>
              <a:t>10 — "Y Doña Rosa lo ve de una. Sin cuaderno, sin pantallazos."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3:30–4:10</a:t>
            </a:r>
          </a:p>
          <a:p>
            <a:r>
              <a:t>La hicimos pensando en Doña Rosa, no en un banquero.</a:t>
            </a:r>
          </a:p>
          <a:p>
            <a:r>
              <a:t>Le hablamos de "usted". Frases cortas. Nada de palabras raras.</a:t>
            </a:r>
          </a:p>
          <a:p>
            <a:r>
              <a:t>Un botón para agrandar la letra en todas las pantallas.</a:t>
            </a:r>
          </a:p>
          <a:p>
            <a:r>
              <a:t>Botones grandes, para el dedo.</a:t>
            </a:r>
          </a:p>
          <a:p>
            <a:r>
              <a:t>Su billetera siempre le pide permiso antes. Si rechaza, no sale ni un peso.</a:t>
            </a:r>
          </a:p>
          <a:p>
            <a:r>
              <a:t>Y le decimos antes cuánto cuesta. Sin letra menuda.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4:10–4:35</a:t>
            </a:r>
          </a:p>
          <a:p>
            <a:r>
              <a:t>La natillera completa ya funciona en la app: la cuota que se cobra sola cada mes, y los préstamos del fondo, que aprueba la tesorera. [CONFIRMAR "ya funciona" contra el back real; en demo sí funciona: pantallas 12–14 y 16–25]</a:t>
            </a:r>
          </a:p>
          <a:p>
            <a:r>
              <a:t>Somos cuatro: Duvan y David en la parte de atrás, Camilo y Henry en 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4:35–5:00</a:t>
            </a:r>
          </a:p>
          <a:p>
            <a:r>
              <a:t>Este diciembre, Doña Rosa no va a sacar el cuaderno.</a:t>
            </a:r>
          </a:p>
          <a:p>
            <a:r>
              <a:t>Va a abrir el celular.</a:t>
            </a:r>
          </a:p>
          <a:p>
            <a:r>
              <a:t>Va a ver que Luz puso. Que Andrés puso.</a:t>
            </a:r>
          </a:p>
          <a:p>
            <a:r>
              <a:t>Y va a repartir la natillera con toda la familia… aunque estén lejos.</a:t>
            </a:r>
          </a:p>
          <a:p>
            <a:r>
              <a:t>Natillera sin Fronteras. Ahorre en familia, aunque vivan en países distintos.</a:t>
            </a:r>
          </a:p>
          <a:p>
            <a:r>
              <a:t>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3F4C9A"/>
                </a:solidFill>
                <a:latin typeface="Arial"/>
              </a:rPr>
              <a:t>NATILLERA SIN FRONTERAS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400"/>
              </a:spcAft>
            </a:pPr>
            <a:r>
              <a:rPr sz="6000" b="1">
                <a:solidFill>
                  <a:srgbClr val="1A1B4B"/>
                </a:solidFill>
                <a:latin typeface="Georgia"/>
              </a:rPr>
              <a:t>Doña Rosa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>
                <a:solidFill>
                  <a:srgbClr val="5F626B"/>
                </a:solidFill>
                <a:latin typeface="Arial"/>
              </a:rPr>
              <a:t>Una natillera, tres países.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0"/>
            <a:ext cx="1188720" cy="1188720"/>
          </a:xfrm>
          <a:prstGeom prst="ellipse">
            <a:avLst/>
          </a:prstGeom>
          <a:solidFill>
            <a:srgbClr val="A7C9B9"/>
          </a:solidFill>
          <a:ln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3063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20"/>
              </a:spcAft>
            </a:pPr>
            <a:r>
              <a:rPr sz="1800" b="1">
                <a:solidFill>
                  <a:srgbClr val="1A1B4B"/>
                </a:solidFill>
                <a:latin typeface="Arial"/>
              </a:rPr>
              <a:t>Doña 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429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80"/>
              </a:spcAft>
            </a:pPr>
            <a:r>
              <a:rPr sz="1200" b="0">
                <a:solidFill>
                  <a:srgbClr val="5F626B"/>
                </a:solidFill>
                <a:latin typeface="Arial"/>
              </a:rPr>
              <a:t>Colombia · pesos</a:t>
            </a:r>
          </a:p>
        </p:txBody>
      </p:sp>
      <p:sp>
        <p:nvSpPr>
          <p:cNvPr id="8" name="Oval 7"/>
          <p:cNvSpPr/>
          <p:nvPr/>
        </p:nvSpPr>
        <p:spPr>
          <a:xfrm>
            <a:off x="7223760" y="4206240"/>
            <a:ext cx="1188720" cy="1188720"/>
          </a:xfrm>
          <a:prstGeom prst="ellipse">
            <a:avLst/>
          </a:prstGeom>
          <a:solidFill>
            <a:srgbClr val="A7C9B9"/>
          </a:solidFill>
          <a:ln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544067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20"/>
              </a:spcAft>
            </a:pPr>
            <a:r>
              <a:rPr sz="1800" b="1">
                <a:solidFill>
                  <a:srgbClr val="1A1B4B"/>
                </a:solidFill>
                <a:latin typeface="Arial"/>
              </a:rPr>
              <a:t>Luz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806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80"/>
              </a:spcAft>
            </a:pPr>
            <a:r>
              <a:rPr sz="1200" b="0">
                <a:solidFill>
                  <a:srgbClr val="5F626B"/>
                </a:solidFill>
                <a:latin typeface="Arial"/>
              </a:rPr>
              <a:t>Estados Unidos · dólares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0" y="4206240"/>
            <a:ext cx="1188720" cy="1188720"/>
          </a:xfrm>
          <a:prstGeom prst="ellipse">
            <a:avLst/>
          </a:prstGeom>
          <a:solidFill>
            <a:srgbClr val="A7C9B9"/>
          </a:solidFill>
          <a:ln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544067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20"/>
              </a:spcAft>
            </a:pPr>
            <a:r>
              <a:rPr sz="1800" b="1">
                <a:solidFill>
                  <a:srgbClr val="1A1B4B"/>
                </a:solidFill>
                <a:latin typeface="Arial"/>
              </a:rPr>
              <a:t>Andrés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80"/>
              </a:spcAft>
            </a:pPr>
            <a:r>
              <a:rPr sz="1200" b="0">
                <a:solidFill>
                  <a:srgbClr val="5F626B"/>
                </a:solidFill>
                <a:latin typeface="Arial"/>
              </a:rPr>
              <a:t>España · euros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3F4C9A"/>
                </a:solidFill>
                <a:latin typeface="Georgia"/>
              </a:rPr>
              <a:t>Y la natillera… sigue en un cuaderno.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3F4C9A"/>
                </a:solidFill>
                <a:latin typeface="Arial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1A1B4B"/>
                </a:solidFill>
                <a:latin typeface="Georgia"/>
              </a:rPr>
              <a:t>La plata sí cruza. La natillera no.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A7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60"/>
              </a:spcAft>
            </a:pPr>
            <a:r>
              <a:rPr sz="3400" b="1">
                <a:solidFill>
                  <a:srgbClr val="2F6F63"/>
                </a:solidFill>
                <a:latin typeface="Georgia"/>
              </a:rPr>
              <a:t>US$13.098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5F626B"/>
                </a:solidFill>
                <a:latin typeface="Arial"/>
              </a:rPr>
              <a:t>en remesas a Colombia en 2025 (+10,6 %)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5603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A7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7889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60"/>
              </a:spcAft>
            </a:pPr>
            <a:r>
              <a:rPr sz="3400" b="1">
                <a:solidFill>
                  <a:srgbClr val="2F6F63"/>
                </a:solidFill>
                <a:latin typeface="Georgia"/>
              </a:rPr>
              <a:t>~18 %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794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5F626B"/>
                </a:solidFill>
                <a:latin typeface="Arial"/>
              </a:rPr>
              <a:t>de los hogares recibe remesas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603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A7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889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60"/>
              </a:spcAft>
            </a:pPr>
            <a:r>
              <a:rPr sz="3400" b="1">
                <a:solidFill>
                  <a:srgbClr val="2F6F63"/>
                </a:solidFill>
                <a:latin typeface="Georgia"/>
              </a:rPr>
              <a:t>Diciembre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794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5F626B"/>
                </a:solidFill>
                <a:latin typeface="Arial"/>
              </a:rPr>
              <a:t>fue el mes récord: US$1.173 M — el mismo mes en que se reparte la natillera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5F626B"/>
                </a:solidFill>
                <a:latin typeface="Arial"/>
              </a:rPr>
              <a:t>Fuente: Banco de la República (remesas 2025).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3F4C9A"/>
                </a:solidFill>
                <a:latin typeface="Arial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583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80"/>
              </a:spcAft>
            </a:pPr>
            <a:r>
              <a:rPr sz="4200" b="1">
                <a:solidFill>
                  <a:srgbClr val="1A1B4B"/>
                </a:solidFill>
                <a:latin typeface="Georgia"/>
              </a:rPr>
              <a:t>La natillera de siempre, en el celular.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6400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F626B"/>
                </a:solidFill>
                <a:latin typeface="Arial"/>
              </a:rPr>
              <a:t>Cada uno pone su cuota desde su billetera, en su moneda.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F626B"/>
                </a:solidFill>
                <a:latin typeface="Arial"/>
              </a:rPr>
              <a:t>Al fondo le llegan pesos.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F626B"/>
                </a:solidFill>
                <a:latin typeface="Arial"/>
              </a:rPr>
              <a:t>Todos ven lo mismo: cuánto hay, quién está al día y quién pidió prestado.</a:t>
            </a:r>
          </a:p>
        </p:txBody>
      </p:sp>
      <p:pic>
        <p:nvPicPr>
          <p:cNvPr id="5" name="Picture 4" descr="shot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2720848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A7C9B9"/>
                </a:solidFill>
                <a:latin typeface="Arial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Andrés pone la cuota desde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1.  Mi natillera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2.  Poner la cuota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3.  Va a su billetera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4.  Aprueba en su billetera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5.  Cuota puesta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400" b="0">
                <a:solidFill>
                  <a:srgbClr val="A7C9B9"/>
                </a:solidFill>
                <a:latin typeface="Arial"/>
              </a:rPr>
              <a:t>Por debajo: Interledger · Open Payments, la tubería entre billeteras y monedas.</a:t>
            </a:r>
          </a:p>
        </p:txBody>
      </p:sp>
      <p:pic>
        <p:nvPicPr>
          <p:cNvPr id="10" name="Picture 9" descr="shot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2720848" cy="5943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3F4C9A"/>
                </a:solidFill>
                <a:latin typeface="Arial"/>
              </a:rPr>
              <a:t>INCLUSIÓN FINANCIERA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1A1B4B"/>
                </a:solidFill>
                <a:latin typeface="Georgia"/>
              </a:rPr>
              <a:t>Hecha para la abuela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A7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40"/>
              </a:spcAft>
            </a:pPr>
            <a:r>
              <a:rPr sz="3600" b="1">
                <a:solidFill>
                  <a:srgbClr val="1A1B4B"/>
                </a:solidFill>
                <a:latin typeface="Georgia"/>
              </a:rPr>
              <a:t>“Usted”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80"/>
              </a:spcAft>
            </a:pPr>
            <a:r>
              <a:rPr sz="1700" b="0">
                <a:solidFill>
                  <a:srgbClr val="1A1B4B"/>
                </a:solidFill>
                <a:latin typeface="Arial"/>
              </a:rPr>
              <a:t>Frases cortas. Nada de palabras raras.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4688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A7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7432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40"/>
              </a:spcAft>
            </a:pPr>
            <a:r>
              <a:rPr sz="3600" b="1">
                <a:solidFill>
                  <a:srgbClr val="1A1B4B"/>
                </a:solidFill>
                <a:latin typeface="Georgia"/>
              </a:rPr>
              <a:t>A+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840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80"/>
              </a:spcAft>
            </a:pPr>
            <a:r>
              <a:rPr sz="1700" b="0">
                <a:solidFill>
                  <a:srgbClr val="1A1B4B"/>
                </a:solidFill>
                <a:latin typeface="Arial"/>
              </a:rPr>
              <a:t>Letra grande en todas las pantallas. Botones para el dedo.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4688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A7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40"/>
              </a:spcAft>
            </a:pPr>
            <a:r>
              <a:rPr sz="3600" b="1">
                <a:solidFill>
                  <a:srgbClr val="1A1B4B"/>
                </a:solidFill>
                <a:latin typeface="Georgia"/>
              </a:rPr>
              <a:t>Pide permiso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840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80"/>
              </a:spcAft>
            </a:pPr>
            <a:r>
              <a:rPr sz="1700" b="0">
                <a:solidFill>
                  <a:srgbClr val="1A1B4B"/>
                </a:solidFill>
                <a:latin typeface="Arial"/>
              </a:rPr>
              <a:t>Su billetera aprueba antes. Si rechaza, no sale ni un peso. El costo se ve antes.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3F4C9A"/>
                </a:solidFill>
                <a:latin typeface="Arial"/>
              </a:rPr>
              <a:t>LA NATILLERA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1A1B4B"/>
                </a:solidFill>
                <a:latin typeface="Georgia"/>
              </a:rPr>
              <a:t>Lo que viene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6400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5F626B"/>
                </a:solidFill>
                <a:latin typeface="Arial"/>
              </a:rPr>
              <a:t>• La cuota que se paga sola cada mes</a:t>
            </a:r>
          </a:p>
          <a:p>
            <a:pPr algn="l">
              <a:spcAft>
                <a:spcPts val="880"/>
              </a:spcAft>
            </a:pPr>
            <a:r>
              <a:rPr sz="2200" b="0">
                <a:solidFill>
                  <a:srgbClr val="5F626B"/>
                </a:solidFill>
                <a:latin typeface="Arial"/>
              </a:rPr>
              <a:t>• Préstamos del fondo que aprueba la tesorera</a:t>
            </a:r>
          </a:p>
          <a:p>
            <a:pPr algn="l">
              <a:spcAft>
                <a:spcPts val="880"/>
              </a:spcAft>
            </a:pPr>
            <a:r>
              <a:rPr sz="2200" b="0">
                <a:solidFill>
                  <a:srgbClr val="5F626B"/>
                </a:solidFill>
                <a:latin typeface="Arial"/>
              </a:rPr>
              <a:t>• Plan de pagos claro: abono + interés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A1B4B"/>
                </a:solidFill>
                <a:latin typeface="Arial"/>
              </a:rPr>
              <a:t>Equipo</a:t>
            </a:r>
          </a:p>
          <a:p>
            <a:pPr algn="l">
              <a:spcAft>
                <a:spcPts val="720"/>
              </a:spcAft>
            </a:pPr>
            <a:r>
              <a:rPr sz="1800" b="1">
                <a:solidFill>
                  <a:srgbClr val="1A1B4B"/>
                </a:solidFill>
                <a:latin typeface="Arial"/>
              </a:rPr>
              <a:t>Duvan y David Ciro · la parte de atrás   ·   Camilo y Henry · la app</a:t>
            </a:r>
          </a:p>
        </p:txBody>
      </p:sp>
      <p:pic>
        <p:nvPicPr>
          <p:cNvPr id="6" name="Picture 5" descr="shot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2720848" cy="594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Este diciembre, Doña Rosa no va a sacar el cuaderno.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40"/>
              </a:spcAft>
            </a:pPr>
            <a:r>
              <a:rPr sz="3600" b="1">
                <a:solidFill>
                  <a:srgbClr val="A7C9B9"/>
                </a:solidFill>
                <a:latin typeface="Georgia"/>
              </a:rPr>
              <a:t>Natillera sin Fronteras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6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Ahorre en familia, aunque vivan en países distintos.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A7C9B9"/>
                </a:solidFill>
                <a:latin typeface="Arial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5F62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